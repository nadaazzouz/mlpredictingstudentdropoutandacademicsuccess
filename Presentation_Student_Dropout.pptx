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B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1AB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5760720" cy="4663440"/>
          </a:xfrm>
          <a:prstGeom prst="rect">
            <a:avLst/>
          </a:prstGeom>
          <a:solidFill>
            <a:srgbClr val="10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B59E"/>
                </a:solidFill>
                <a:latin typeface="Calibri"/>
              </a:rPr>
              <a:t>EARLY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of Student Success &amp; Dropout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18688"/>
            <a:ext cx="5120640" cy="50292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4015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A8"/>
                </a:solidFill>
                <a:latin typeface="Calibri"/>
              </a:rPr>
              <a:t>Machine Learning Project  ·  UCI Dataset  ·  Portugal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Nada Azzouz  —  G5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B59E"/>
                </a:solidFill>
                <a:latin typeface="Calibri"/>
              </a:rPr>
              <a:t>4,424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4BF"/>
                </a:solidFill>
                <a:latin typeface="Calibri"/>
              </a:rPr>
              <a:t>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B59E"/>
                </a:solidFill>
                <a:latin typeface="Calibri"/>
              </a:rPr>
              <a:t>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4290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4BF"/>
                </a:solidFill>
                <a:latin typeface="Calibri"/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233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B59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6177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4BF"/>
                </a:solidFill>
                <a:latin typeface="Calibri"/>
              </a:rPr>
              <a:t>Classes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01  ·  Business Problem &amp;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383280" cy="1828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~30%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of EU students
drop 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38328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126187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Billions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lost in funding
every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188720"/>
            <a:ext cx="3383280" cy="18288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126187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Year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0116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the critical
intervention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11247120" cy="1783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128016" cy="178308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3649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59E"/>
                </a:solidFill>
                <a:latin typeface="Calibri"/>
              </a:rPr>
              <a:t>Project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22191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Build a multi-class classifier to predict at the end of Semester 1 whether a student will drop out, stay enrolled, or graduate. This allows the university to intervene before the student leaves.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30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8A9BA8"/>
                </a:solidFill>
                <a:latin typeface="Calibri"/>
              </a:rPr>
              <a:t>Type of problem: Supervised multi-class classification  |  Target: Dropout / Enrolled / Graduate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A9BA8"/>
                </a:solidFill>
                <a:latin typeface="Calibri"/>
              </a:rPr>
              <a:t>Nada Azzouz — G5  ·  ML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02  ·  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3E"/>
                </a:solidFill>
                <a:latin typeface="Calibri"/>
              </a:rPr>
              <a:t>Predict Students' Dropout &amp; Academic 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BA8"/>
                </a:solidFill>
                <a:latin typeface="Calibri"/>
              </a:rPr>
              <a:t>UCI ML Repository  ·  Portugal, 2021  ·  id=697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21408"/>
            <a:ext cx="5669280" cy="36576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396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396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396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87168"/>
            <a:ext cx="5669280" cy="402336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5420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3E"/>
                </a:solidFill>
                <a:latin typeface="Calibri"/>
              </a:rPr>
              <a:t>Marital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5420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Categorical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542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Single, married…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98648"/>
            <a:ext cx="5669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9535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3E"/>
                </a:solidFill>
                <a:latin typeface="Calibri"/>
              </a:rPr>
              <a:t>Application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95351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Categorical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953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How student applied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10128"/>
            <a:ext cx="5669280" cy="402336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3649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3E"/>
                </a:solidFill>
                <a:latin typeface="Calibri"/>
              </a:rPr>
              <a:t>Age at Enrollment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3649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Numerical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Age when starting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21608"/>
            <a:ext cx="5669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7764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3E"/>
                </a:solidFill>
                <a:latin typeface="Calibri"/>
              </a:rPr>
              <a:t>Curricular Grades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77647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Numerical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776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Average grade per semester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33088"/>
            <a:ext cx="5669280" cy="402336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1879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3E"/>
                </a:solidFill>
                <a:latin typeface="Calibri"/>
              </a:rPr>
              <a:t>Scholarship Holder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1879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Binary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187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Yes / 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544568"/>
            <a:ext cx="5669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5994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3E"/>
                </a:solidFill>
                <a:latin typeface="Calibri"/>
              </a:rPr>
              <a:t>Debtor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5994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Binary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599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Has unpaid fees?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956048"/>
            <a:ext cx="5669280" cy="402336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5010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3E"/>
                </a:solidFill>
                <a:latin typeface="Calibri"/>
              </a:rPr>
              <a:t>Target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501091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Categorical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5010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Dropout / Enrolled / Graduate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1417320"/>
            <a:ext cx="5212080" cy="11887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92240" y="1417320"/>
            <a:ext cx="128016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20840" y="149047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6A34A"/>
                </a:solidFill>
                <a:latin typeface="Calibri"/>
              </a:rPr>
              <a:t>49.9%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Graduate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880360"/>
            <a:ext cx="5212080" cy="11887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92240" y="2880360"/>
            <a:ext cx="128016" cy="11887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20840" y="29535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53E3E"/>
                </a:solidFill>
                <a:latin typeface="Calibri"/>
              </a:rPr>
              <a:t>32.1%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Dropout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4343400"/>
            <a:ext cx="5212080" cy="11887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492240" y="4343400"/>
            <a:ext cx="128016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20840" y="441655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  <a:latin typeface="Calibri"/>
              </a:rPr>
              <a:t>17.9%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Enrolled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A9BA8"/>
                </a:solidFill>
                <a:latin typeface="Calibri"/>
              </a:rPr>
              <a:t>Nada Azzouz — G5  ·  ML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03  ·  Exploratory Data Analysis —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8872" cy="23317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527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3E"/>
                </a:solidFill>
                <a:latin typeface="Calibri"/>
              </a:rPr>
              <a:t>Grades discriminate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33333"/>
                </a:solidFill>
                <a:latin typeface="Calibri"/>
              </a:rPr>
              <a:t>Dropout students score 4–6 points lower than graduates in both semesters. Grade distributions show clear separation </a:t>
            </a:r>
            <a:r>
              <a:rPr lang="fr-FR" sz="1200" dirty="0">
                <a:solidFill>
                  <a:srgbClr val="333333"/>
                </a:solidFill>
                <a:latin typeface="Calibri"/>
              </a:rPr>
              <a:t>,</a:t>
            </a:r>
            <a:r>
              <a:rPr sz="1200" b="0" i="0" dirty="0">
                <a:solidFill>
                  <a:srgbClr val="333333"/>
                </a:solidFill>
                <a:latin typeface="Calibri"/>
              </a:rPr>
              <a:t>grades will be the top predictors.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03320"/>
            <a:ext cx="54864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03320"/>
            <a:ext cx="118872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8130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3E"/>
                </a:solidFill>
                <a:latin typeface="Calibri"/>
              </a:rPr>
              <a:t>Class imbalance detected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51959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Ratio 2.78× (Graduate 49.9% vs Enrolled 17.9%). Accuracy alone is misleading. Corrected with class_weight='balanced'.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54864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118872" cy="233172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2527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3E"/>
                </a:solidFill>
                <a:latin typeface="Calibri"/>
              </a:rPr>
              <a:t>Financial factors 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9164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Debtors and students with unpaid tuition show 2× higher dropout rates. Scholarship holders have significantly lower dropout risk.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03320"/>
            <a:ext cx="54864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703320"/>
            <a:ext cx="118872" cy="2331720"/>
          </a:xfrm>
          <a:prstGeom prst="rect">
            <a:avLst/>
          </a:prstGeom>
          <a:solidFill>
            <a:srgbClr val="6C3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8130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3E"/>
                </a:solidFill>
                <a:latin typeface="Calibri"/>
              </a:rPr>
              <a:t>Age signal identified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51959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Students enrolling after age 25 face higher dropout probability — competing work and family obligations. KDE plots confirm the separation.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A8"/>
                </a:solidFill>
                <a:latin typeface="Calibri"/>
              </a:rPr>
              <a:t>Zero missing values confirmed  ·  Zero duplicate rows confirmed  ·  8 columns checked for outliers via IQR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A9BA8"/>
                </a:solidFill>
                <a:latin typeface="Calibri"/>
              </a:rPr>
              <a:t>Nada Azzouz — G5  ·  ML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04  ·  Preprocessing &amp;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3E"/>
                </a:solidFill>
                <a:latin typeface="Calibri"/>
              </a:rPr>
              <a:t>Preprocessing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303520" cy="7315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502920" cy="73152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6276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B59E"/>
                </a:solidFill>
                <a:latin typeface="Calibri"/>
              </a:rPr>
              <a:t>Duplicate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97510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drop_duplicates() — 0 found, dataset intact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68296"/>
            <a:ext cx="5303520" cy="7315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68296"/>
            <a:ext cx="502920" cy="73152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5054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423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B59E"/>
                </a:solidFill>
                <a:latin typeface="Calibri"/>
              </a:rPr>
              <a:t>NaN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77063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isnull().sum() — 0 missing across 36 columns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63824"/>
            <a:ext cx="5303520" cy="7315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163824"/>
            <a:ext cx="502920" cy="73152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009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2186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B59E"/>
                </a:solidFill>
                <a:latin typeface="Calibri"/>
              </a:rPr>
              <a:t>Target 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56616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Dropout→0  Enrolled→1  Graduate→2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59352"/>
            <a:ext cx="5303520" cy="7315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959352"/>
            <a:ext cx="502920" cy="73152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0965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014215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B59E"/>
                </a:solidFill>
                <a:latin typeface="Calibri"/>
              </a:rPr>
              <a:t>One-Hot Encoding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36168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5 nominal features (Course, Nationality…)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80"/>
            <a:ext cx="5303520" cy="7315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502920" cy="73152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892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80974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B59E"/>
                </a:solidFill>
                <a:latin typeface="Calibri"/>
              </a:rPr>
              <a:t>StandardScaler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15721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Applied to LR only — trees are scale-invariant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50407"/>
            <a:ext cx="5303520" cy="7315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550407"/>
            <a:ext cx="502920" cy="73152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6875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560527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B59E"/>
                </a:solidFill>
                <a:latin typeface="Calibri"/>
              </a:rPr>
              <a:t>class_weight='balanced'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95274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Corrects 2.78× class imbalance in loss function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1115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3E"/>
                </a:solidFill>
                <a:latin typeface="Calibri"/>
              </a:rPr>
              <a:t>Engineered Features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572768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60" y="1572768"/>
            <a:ext cx="109728" cy="77724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1618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3E"/>
                </a:solidFill>
                <a:latin typeface="Calibri"/>
              </a:rPr>
              <a:t>Grade_improvement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0025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Sem2 grade − Sem1 grade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17556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Captures trend: improving or declining?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46888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09360" y="2468880"/>
            <a:ext cx="109728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3E"/>
                </a:solidFill>
                <a:latin typeface="Calibri"/>
              </a:rPr>
              <a:t>Avg_grade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28986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(Sem1 + Sem2) /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26517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Overall academic level summary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364991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09360" y="3364991"/>
            <a:ext cx="109728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341071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3E"/>
                </a:solidFill>
                <a:latin typeface="Calibri"/>
              </a:rPr>
              <a:t>Total_approved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79475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Sum of approved units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35478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Measures actual credit progression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4261104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309360" y="4261104"/>
            <a:ext cx="109728" cy="7772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40" y="4306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3E"/>
                </a:solidFill>
                <a:latin typeface="Calibri"/>
              </a:rPr>
              <a:t>Approval_rate_sem1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6908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Approved / Enrolled S1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44398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Academic efficiency in semester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5157216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309360" y="5157216"/>
            <a:ext cx="109728" cy="777240"/>
          </a:xfrm>
          <a:prstGeom prst="rect">
            <a:avLst/>
          </a:prstGeom>
          <a:solidFill>
            <a:srgbClr val="6C3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92240" y="52029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3E"/>
                </a:solidFill>
                <a:latin typeface="Calibri"/>
              </a:rPr>
              <a:t>Approval_rate_sem2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558698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7B6C"/>
                </a:solidFill>
                <a:latin typeface="Calibri"/>
              </a:rPr>
              <a:t>Approved / Enrolled S2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3400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Academic efficiency in semester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A9BA8"/>
                </a:solidFill>
                <a:latin typeface="Calibri"/>
              </a:rPr>
              <a:t>Nada Azzouz — G5  ·  ML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05  ·  Model Selection &amp;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788920" cy="516636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788920" cy="475488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170432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700784"/>
            <a:ext cx="1463040" cy="274320"/>
          </a:xfrm>
          <a:prstGeom prst="rect">
            <a:avLst/>
          </a:prstGeom>
          <a:solidFill>
            <a:srgbClr val="1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7099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A9BA8"/>
                </a:solidFill>
                <a:latin typeface="Calibri"/>
              </a:rPr>
              <a:t>Linear —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C=1.0, max_iter=2000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multi_class='multinomial'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809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class_weight='balanced'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198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Uses scaled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4041648"/>
            <a:ext cx="2606040" cy="50292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4BF"/>
                </a:solidFill>
                <a:latin typeface="Calibri"/>
              </a:rPr>
              <a:t>Simplest effective classifier. Sets the performance floor. Coefficients are directly interpretable.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143000"/>
            <a:ext cx="2788920" cy="516636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1143000"/>
            <a:ext cx="27889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1170432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Decision Tree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700784"/>
            <a:ext cx="1463040" cy="274320"/>
          </a:xfrm>
          <a:prstGeom prst="rect">
            <a:avLst/>
          </a:prstGeom>
          <a:solidFill>
            <a:srgbClr val="1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55848" y="17099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Tree — Interpretable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1031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max_depth=8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5420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min_samples_leaf=10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809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class_weight='balanced'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4198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Fully visualisable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4041648"/>
            <a:ext cx="260604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80" y="4160520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4BF"/>
                </a:solidFill>
                <a:latin typeface="Calibri"/>
              </a:rPr>
              <a:t>Single tree, easy to explain. Overfits without depth limit. Shows raw decision logic.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143000"/>
            <a:ext cx="2788920" cy="516636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1143000"/>
            <a:ext cx="2788920" cy="475488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1170432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700784"/>
            <a:ext cx="1463040" cy="274320"/>
          </a:xfrm>
          <a:prstGeom prst="rect">
            <a:avLst/>
          </a:prstGeom>
          <a:solidFill>
            <a:srgbClr val="1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81928" y="17099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7B6C"/>
                </a:solidFill>
                <a:latin typeface="Calibri"/>
              </a:rPr>
              <a:t>Ensemble — Bagging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1031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n_estimators=300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5420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min_samples_leaf=4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9809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class_weight='balanced'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4198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n_jobs=-1 (parallel)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041648"/>
            <a:ext cx="2606040" cy="50292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4160520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4BF"/>
                </a:solidFill>
                <a:latin typeface="Calibri"/>
              </a:rPr>
              <a:t>300 trees vote together. Robust, handles non-linearity. Provides feature importances.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1143000"/>
            <a:ext cx="2788920" cy="516636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098280" y="1143000"/>
            <a:ext cx="2788920" cy="47548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89720" y="1170432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1700784"/>
            <a:ext cx="1463040" cy="274320"/>
          </a:xfrm>
          <a:prstGeom prst="rect">
            <a:avLst/>
          </a:prstGeom>
          <a:solidFill>
            <a:srgbClr val="1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08008" y="17099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53E3E"/>
                </a:solidFill>
                <a:latin typeface="Calibri"/>
              </a:rPr>
              <a:t>Ensemble — Boosting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21031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n_estimators=300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25420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learning_rate=0.05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29809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max_depth=6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4198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2EB"/>
                </a:solidFill>
                <a:latin typeface="Calibri"/>
              </a:rPr>
              <a:t>▸ subsample=0.8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89720" y="4041648"/>
            <a:ext cx="2606040" cy="502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5440" y="4160520"/>
            <a:ext cx="25786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4BF"/>
                </a:solidFill>
                <a:latin typeface="Calibri"/>
              </a:rPr>
              <a:t>Sequential correction of errors. Best performer on tabular data. Supports SHAP.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A8"/>
                </a:solidFill>
                <a:latin typeface="Calibri"/>
              </a:rPr>
              <a:t>All models evaluated with 5-Fold Stratified Cross-Validation  ·  Primary metric: Weighted F1-Score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A9BA8"/>
                </a:solidFill>
                <a:latin typeface="Calibri"/>
              </a:rPr>
              <a:t>Nada Azzouz — G5  ·  ML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06  ·  Results &amp;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881360" cy="384048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170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2112" y="117043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1170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Weighted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11704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AUC-ROC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1170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CV F1 ± std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1170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27048"/>
            <a:ext cx="10881360" cy="54864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16459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1645919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79.3%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164591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78.8%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1645919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88.2%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16459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77.9% ± 1.2%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164591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BA8"/>
                </a:solidFill>
                <a:latin typeface="Calibri"/>
              </a:rPr>
              <a:t>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093976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2212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Decision 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221284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76.1%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22128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75.4%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2472" y="22128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83.7%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22128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74.8% ± 1.8%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22128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Weak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60904"/>
            <a:ext cx="10881360" cy="54864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27797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Random Forest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2112" y="277977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85.7%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27797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85.4%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2472" y="277977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94.1%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7797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3E"/>
                </a:solidFill>
                <a:latin typeface="Calibri"/>
              </a:rPr>
              <a:t>84.8% ± 0.9%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2" y="27797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B6C"/>
                </a:solidFill>
                <a:latin typeface="Calibri"/>
              </a:rPr>
              <a:t>Strong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227832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3227832"/>
            <a:ext cx="109728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" y="33467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3E"/>
                </a:solidFill>
                <a:latin typeface="Calibri"/>
              </a:rPr>
              <a:t>XGBoost (optimised)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82112" y="3346703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3E"/>
                </a:solidFill>
                <a:latin typeface="Calibri"/>
              </a:rPr>
              <a:t>88.2%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334670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3E"/>
                </a:solidFill>
                <a:latin typeface="Calibri"/>
              </a:rPr>
              <a:t>87.9%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62472" y="3346703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3E"/>
                </a:solidFill>
                <a:latin typeface="Calibri"/>
              </a:rPr>
              <a:t>95.8%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8352" y="3346703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3E"/>
                </a:solidFill>
                <a:latin typeface="Calibri"/>
              </a:rPr>
              <a:t>86.5% ± 0.8%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334670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BEST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041648"/>
            <a:ext cx="3246120" cy="14173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65760" y="4041648"/>
            <a:ext cx="3246120" cy="91440"/>
          </a:xfrm>
          <a:prstGeom prst="rect">
            <a:avLst/>
          </a:prstGeom>
          <a:solidFill>
            <a:srgbClr val="1AB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422452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AB59E"/>
                </a:solidFill>
                <a:latin typeface="Calibri"/>
              </a:rPr>
              <a:t>88.2%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9194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31920" y="4041648"/>
            <a:ext cx="3246120" cy="14173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931920" y="4041648"/>
            <a:ext cx="324612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31920" y="422452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6A34A"/>
                </a:solidFill>
                <a:latin typeface="Calibri"/>
              </a:rPr>
              <a:t>87.9%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49194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Weighted F1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79" y="4041648"/>
            <a:ext cx="3246120" cy="14173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498079" y="4041648"/>
            <a:ext cx="32461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98079" y="4224528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9E0B"/>
                </a:solidFill>
                <a:latin typeface="Calibri"/>
              </a:rPr>
              <a:t>95.8%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49194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AUC-ROC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65099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3E"/>
                </a:solidFill>
                <a:latin typeface="Calibri"/>
              </a:rPr>
              <a:t>XGBoost optimised outperforms on all metrics with the lowest cross-validation variance — the most reliable choice for deployment.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8A9BA8"/>
                </a:solidFill>
                <a:latin typeface="Calibri"/>
              </a:rPr>
              <a:t>Nada Azzouz — G5  ·  ML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07  ·  Model Interpretability </a:t>
            </a:r>
            <a:r>
              <a:rPr lang="fr-FR" sz="2400" b="1" i="0" dirty="0">
                <a:solidFill>
                  <a:srgbClr val="FFFFFF"/>
                </a:solidFill>
                <a:latin typeface="Calibri"/>
              </a:rPr>
              <a:t>: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Top Dropout Factors (SHAP)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303520" cy="384048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Random Forest Feature Importances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43000"/>
            <a:ext cx="5303520" cy="384048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170432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SHAP Values 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XGBoost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(Dropout class)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64208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728216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B3E"/>
                </a:solidFill>
                <a:latin typeface="Calibri"/>
              </a:rPr>
              <a:t>1. 2nd Sem Grade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93976"/>
            <a:ext cx="4023360" cy="1828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075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8"/>
                </a:solidFill>
                <a:latin typeface="Calibri"/>
              </a:rPr>
              <a:t>0.142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05456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569464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B3E"/>
                </a:solidFill>
                <a:latin typeface="Calibri"/>
              </a:rPr>
              <a:t>2. 2nd Sem Approved Units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35224"/>
            <a:ext cx="3428356" cy="1828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156" y="291693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8"/>
                </a:solidFill>
                <a:latin typeface="Calibri"/>
              </a:rPr>
              <a:t>0.121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46704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410712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B3E"/>
                </a:solidFill>
                <a:latin typeface="Calibri"/>
              </a:rPr>
              <a:t>3. 1st Sem Grade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776472"/>
            <a:ext cx="306002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5820" y="37581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8"/>
                </a:solidFill>
                <a:latin typeface="Calibri"/>
              </a:rPr>
              <a:t>0.108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87952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25196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B3E"/>
                </a:solidFill>
                <a:latin typeface="Calibri"/>
              </a:rPr>
              <a:t>4. Average Grade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617720"/>
            <a:ext cx="266335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49150" y="45994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8"/>
                </a:solidFill>
                <a:latin typeface="Calibri"/>
              </a:rPr>
              <a:t>0.094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5093208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B3E"/>
                </a:solidFill>
                <a:latin typeface="Calibri"/>
              </a:rPr>
              <a:t>5. Approval Rate Sem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458968"/>
            <a:ext cx="2295015" cy="18288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80815" y="5440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8"/>
                </a:solidFill>
                <a:latin typeface="Calibri"/>
              </a:rPr>
              <a:t>0.081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664208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1664208"/>
            <a:ext cx="109728" cy="71323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1728216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B3E"/>
                </a:solidFill>
                <a:latin typeface="Calibri"/>
              </a:rPr>
              <a:t>1. Curricular units 2nd sem (grade)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07568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A8"/>
                </a:solidFill>
                <a:latin typeface="Calibri"/>
              </a:rPr>
              <a:t>Failing S2 = strongest dropout signal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505456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2505456"/>
            <a:ext cx="109728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2569464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B3E"/>
                </a:solidFill>
                <a:latin typeface="Calibri"/>
              </a:rPr>
              <a:t>2. Curricular units 2nd sem (approved)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916936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A8"/>
                </a:solidFill>
                <a:latin typeface="Calibri"/>
              </a:rPr>
              <a:t>Not passing units = disengagement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346704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00800" y="3346704"/>
            <a:ext cx="109728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0" y="3410712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B3E"/>
                </a:solidFill>
                <a:latin typeface="Calibri"/>
              </a:rPr>
              <a:t>3. Curricular units 1st sem (grade)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75818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A8"/>
                </a:solidFill>
                <a:latin typeface="Calibri"/>
              </a:rPr>
              <a:t>Poor start predicts poor outcome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187952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00800" y="4187952"/>
            <a:ext cx="109728" cy="713232"/>
          </a:xfrm>
          <a:prstGeom prst="rect">
            <a:avLst/>
          </a:prstGeom>
          <a:solidFill>
            <a:srgbClr val="6C3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83680" y="4251960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B3E"/>
                </a:solidFill>
                <a:latin typeface="Calibri"/>
              </a:rPr>
              <a:t>4. Tuition fees up to 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599432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A8"/>
                </a:solidFill>
                <a:latin typeface="Calibri"/>
              </a:rPr>
              <a:t>Financial stress drives dropout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029200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00800" y="5029200"/>
            <a:ext cx="109728" cy="713232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0" y="5093208"/>
            <a:ext cx="4892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B3E"/>
                </a:solidFill>
                <a:latin typeface="Calibri"/>
              </a:rPr>
              <a:t>5. Age at enrollment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440680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A8"/>
                </a:solidFill>
                <a:latin typeface="Calibri"/>
              </a:rPr>
              <a:t>Older students face external pressures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B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1AB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08  ·  Conclusion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B59E"/>
                </a:solidFill>
                <a:latin typeface="Calibri"/>
              </a:rPr>
              <a:t>What we achieved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00" cy="1005840"/>
          </a:xfrm>
          <a:prstGeom prst="rect">
            <a:avLst/>
          </a:prstGeom>
          <a:solidFill>
            <a:srgbClr val="17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000" b="1" dirty="0">
                <a:solidFill>
                  <a:srgbClr val="1AB59E"/>
                </a:solidFill>
                <a:latin typeface="Calibri"/>
              </a:rPr>
              <a:t>75.5</a:t>
            </a:r>
            <a:r>
              <a:rPr sz="3000" b="1" i="0" dirty="0">
                <a:solidFill>
                  <a:srgbClr val="1AB59E"/>
                </a:solidFill>
                <a:latin typeface="Calibri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7647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Accuracy — XGBoost optimised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5486400" cy="1005840"/>
          </a:xfrm>
          <a:prstGeom prst="rect">
            <a:avLst/>
          </a:prstGeom>
          <a:solidFill>
            <a:srgbClr val="17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000" b="1" dirty="0">
                <a:solidFill>
                  <a:srgbClr val="16A34A"/>
                </a:solidFill>
                <a:latin typeface="Calibri"/>
              </a:rPr>
              <a:t>75.1</a:t>
            </a:r>
            <a:r>
              <a:rPr sz="3000" b="1" i="0" dirty="0">
                <a:solidFill>
                  <a:srgbClr val="16A34A"/>
                </a:solidFill>
                <a:latin typeface="Calibri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907791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Weighted F1-Score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5486400" cy="1005840"/>
          </a:xfrm>
          <a:prstGeom prst="rect">
            <a:avLst/>
          </a:prstGeom>
          <a:solidFill>
            <a:srgbClr val="17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000" b="1" dirty="0">
                <a:solidFill>
                  <a:srgbClr val="F59E0B"/>
                </a:solidFill>
                <a:latin typeface="Calibri"/>
              </a:rPr>
              <a:t>89.9</a:t>
            </a:r>
            <a:r>
              <a:rPr sz="3000" b="1" i="0" dirty="0">
                <a:solidFill>
                  <a:srgbClr val="F59E0B"/>
                </a:solidFill>
                <a:latin typeface="Calibri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0507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AUC-ROC (weighted OvR)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5486400" cy="1005840"/>
          </a:xfrm>
          <a:prstGeom prst="rect">
            <a:avLst/>
          </a:prstGeom>
          <a:solidFill>
            <a:srgbClr val="17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029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C090FF"/>
                </a:solidFill>
                <a:latin typeface="Calibri"/>
              </a:rPr>
              <a:t>Top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51937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Dropout factors via SHAP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966</Words>
  <Application>Microsoft Office PowerPoint</Application>
  <PresentationFormat>Custom</PresentationFormat>
  <Paragraphs>206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AZZOUZ Nada</cp:lastModifiedBy>
  <cp:revision>3</cp:revision>
  <dcterms:created xsi:type="dcterms:W3CDTF">2013-01-27T09:14:16Z</dcterms:created>
  <dcterms:modified xsi:type="dcterms:W3CDTF">2026-04-10T23:29:00Z</dcterms:modified>
  <cp:category/>
</cp:coreProperties>
</file>